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243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B59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B59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9B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 dirty="0">
                <a:solidFill>
                  <a:srgbClr val="3D355E"/>
                </a:solidFill>
              </a:rPr>
              <a:t>VAARI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solidFill>
                  <a:srgbClr val="6B5F9E"/>
                </a:solidFill>
              </a:rPr>
              <a:t>Crop Water Footprint Information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566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6B5F9E"/>
                </a:solidFill>
              </a:rPr>
              <a:t>An Android Application for Agricultural Water Awareness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8070A0"/>
                </a:solidFill>
              </a:rPr>
              <a:t>Pranav</a:t>
            </a:r>
            <a:r>
              <a:rPr lang="en-IN" sz="1400" b="0" i="0" dirty="0">
                <a:solidFill>
                  <a:srgbClr val="8070A0"/>
                </a:solidFill>
              </a:rPr>
              <a:t> Bhagwat  </a:t>
            </a:r>
            <a:r>
              <a:rPr sz="1400" b="0" i="0" dirty="0">
                <a:solidFill>
                  <a:srgbClr val="8070A0"/>
                </a:solidFill>
              </a:rPr>
              <a:t>|  </a:t>
            </a:r>
            <a:r>
              <a:rPr lang="en-IN" sz="1400" b="0" i="0" dirty="0" err="1">
                <a:solidFill>
                  <a:srgbClr val="8070A0"/>
                </a:solidFill>
              </a:rPr>
              <a:t>Mohanish</a:t>
            </a:r>
            <a:r>
              <a:rPr lang="en-IN" sz="1400" b="0" i="0" dirty="0">
                <a:solidFill>
                  <a:srgbClr val="8070A0"/>
                </a:solidFill>
              </a:rPr>
              <a:t> </a:t>
            </a:r>
            <a:r>
              <a:rPr lang="en-IN" sz="1400" b="0" i="0" dirty="0" err="1">
                <a:solidFill>
                  <a:srgbClr val="8070A0"/>
                </a:solidFill>
              </a:rPr>
              <a:t>Lowanshi</a:t>
            </a:r>
            <a:r>
              <a:rPr lang="en-IN" sz="1400" b="0" i="0" dirty="0">
                <a:solidFill>
                  <a:srgbClr val="8070A0"/>
                </a:solidFill>
              </a:rPr>
              <a:t>  </a:t>
            </a:r>
            <a:r>
              <a:rPr sz="1400" b="0" i="0" dirty="0">
                <a:solidFill>
                  <a:srgbClr val="8070A0"/>
                </a:solidFill>
              </a:rPr>
              <a:t>|  </a:t>
            </a:r>
            <a:r>
              <a:rPr lang="en-IN" sz="1400" dirty="0">
                <a:solidFill>
                  <a:srgbClr val="8070A0"/>
                </a:solidFill>
              </a:rPr>
              <a:t>Neha Agrawal</a:t>
            </a:r>
            <a:endParaRPr sz="1400" b="0" i="0" dirty="0">
              <a:solidFill>
                <a:srgbClr val="807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9B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9B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"/>
            <a:ext cx="12188952" cy="1005840"/>
          </a:xfrm>
          <a:prstGeom prst="rect">
            <a:avLst/>
          </a:prstGeom>
          <a:solidFill>
            <a:srgbClr val="E4F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3D355E"/>
                </a:solidFill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07008"/>
            <a:ext cx="6021044" cy="5554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dirty="0">
                <a:solidFill>
                  <a:srgbClr val="3D355E"/>
                </a:solidFill>
              </a:rPr>
              <a:t>  •  Android application built with Kotlin and Android Studio</a:t>
            </a:r>
          </a:p>
          <a:p>
            <a:pPr algn="l">
              <a:lnSpc>
                <a:spcPct val="200000"/>
              </a:lnSpc>
            </a:pPr>
            <a:r>
              <a:rPr dirty="0">
                <a:solidFill>
                  <a:srgbClr val="3D355E"/>
                </a:solidFill>
              </a:rPr>
              <a:t>  •  Search crops by name and view their water footprint in </a:t>
            </a:r>
            <a:r>
              <a:rPr lang="en-IN" dirty="0">
                <a:solidFill>
                  <a:srgbClr val="3D355E"/>
                </a:solidFill>
              </a:rPr>
              <a:t>	</a:t>
            </a:r>
            <a:r>
              <a:rPr dirty="0" err="1">
                <a:solidFill>
                  <a:srgbClr val="3D355E"/>
                </a:solidFill>
              </a:rPr>
              <a:t>litres</a:t>
            </a:r>
            <a:r>
              <a:rPr dirty="0">
                <a:solidFill>
                  <a:srgbClr val="3D355E"/>
                </a:solidFill>
              </a:rPr>
              <a:t>/kg</a:t>
            </a:r>
          </a:p>
          <a:p>
            <a:pPr algn="l">
              <a:lnSpc>
                <a:spcPct val="200000"/>
              </a:lnSpc>
            </a:pPr>
            <a:r>
              <a:rPr dirty="0">
                <a:solidFill>
                  <a:srgbClr val="3D355E"/>
                </a:solidFill>
              </a:rPr>
              <a:t>  •  Displays Green, Blue, </a:t>
            </a:r>
            <a:r>
              <a:rPr sz="1600" dirty="0">
                <a:solidFill>
                  <a:srgbClr val="3D355E"/>
                </a:solidFill>
              </a:rPr>
              <a:t>and</a:t>
            </a:r>
            <a:r>
              <a:rPr dirty="0">
                <a:solidFill>
                  <a:srgbClr val="3D355E"/>
                </a:solidFill>
              </a:rPr>
              <a:t> Grey water breakdown with a Pie </a:t>
            </a:r>
            <a:r>
              <a:rPr lang="en-IN" dirty="0">
                <a:solidFill>
                  <a:srgbClr val="3D355E"/>
                </a:solidFill>
              </a:rPr>
              <a:t>	</a:t>
            </a:r>
            <a:r>
              <a:rPr dirty="0">
                <a:solidFill>
                  <a:srgbClr val="3D355E"/>
                </a:solidFill>
              </a:rPr>
              <a:t>Chart</a:t>
            </a:r>
          </a:p>
          <a:p>
            <a:pPr algn="l">
              <a:lnSpc>
                <a:spcPct val="200000"/>
              </a:lnSpc>
            </a:pPr>
            <a:r>
              <a:rPr dirty="0">
                <a:solidFill>
                  <a:srgbClr val="3D355E"/>
                </a:solidFill>
              </a:rPr>
              <a:t>  •  Saves every search to local history using Room Database</a:t>
            </a:r>
          </a:p>
          <a:p>
            <a:pPr algn="l">
              <a:lnSpc>
                <a:spcPct val="200000"/>
              </a:lnSpc>
            </a:pPr>
            <a:r>
              <a:rPr dirty="0">
                <a:solidFill>
                  <a:srgbClr val="3D355E"/>
                </a:solidFill>
              </a:rPr>
              <a:t>  •  Supports 11 Indian languages (Hindi, Bengali, Tamil, Telugu </a:t>
            </a:r>
            <a:r>
              <a:rPr lang="en-IN" dirty="0">
                <a:solidFill>
                  <a:srgbClr val="3D355E"/>
                </a:solidFill>
              </a:rPr>
              <a:t>	</a:t>
            </a:r>
            <a:r>
              <a:rPr dirty="0">
                <a:solidFill>
                  <a:srgbClr val="3D355E"/>
                </a:solidFill>
              </a:rPr>
              <a:t>and more)</a:t>
            </a:r>
          </a:p>
          <a:p>
            <a:pPr algn="l">
              <a:lnSpc>
                <a:spcPct val="200000"/>
              </a:lnSpc>
            </a:pPr>
            <a:r>
              <a:rPr dirty="0">
                <a:solidFill>
                  <a:srgbClr val="3D355E"/>
                </a:solidFill>
              </a:rPr>
              <a:t>  •  Backend powered by a Python / Flask REST API with crop </a:t>
            </a:r>
            <a:r>
              <a:rPr lang="en-IN" dirty="0">
                <a:solidFill>
                  <a:srgbClr val="3D355E"/>
                </a:solidFill>
              </a:rPr>
              <a:t>	</a:t>
            </a:r>
            <a:r>
              <a:rPr dirty="0">
                <a:solidFill>
                  <a:srgbClr val="3D355E"/>
                </a:solidFill>
              </a:rPr>
              <a:t>dataset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138A79-8C97-CCCF-FF63-F283CAB65A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074" t="8527" r="1967" b="51564"/>
          <a:stretch/>
        </p:blipFill>
        <p:spPr>
          <a:xfrm>
            <a:off x="6133462" y="1581538"/>
            <a:ext cx="5981994" cy="39048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49F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49F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"/>
            <a:ext cx="12188952" cy="1005840"/>
          </a:xfrm>
          <a:prstGeom prst="rect">
            <a:avLst/>
          </a:prstGeom>
          <a:solidFill>
            <a:srgbClr val="FFEC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D355E"/>
                </a:solidFill>
              </a:rPr>
              <a:t>Problem Statement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4F2021-A762-F398-E1F5-B46A2D7849E2}"/>
              </a:ext>
            </a:extLst>
          </p:cNvPr>
          <p:cNvSpPr txBox="1"/>
          <p:nvPr/>
        </p:nvSpPr>
        <p:spPr>
          <a:xfrm>
            <a:off x="137160" y="1207008"/>
            <a:ext cx="5517191" cy="5554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lang="en-US" dirty="0">
                <a:solidFill>
                  <a:srgbClr val="3D355E"/>
                </a:solidFill>
              </a:rPr>
              <a:t>•  Agriculture consumes ~70% of global freshwater 	resources  </a:t>
            </a:r>
          </a:p>
          <a:p>
            <a:pPr algn="l">
              <a:lnSpc>
                <a:spcPct val="200000"/>
              </a:lnSpc>
            </a:pPr>
            <a:r>
              <a:rPr lang="en-US" dirty="0">
                <a:solidFill>
                  <a:srgbClr val="3D355E"/>
                </a:solidFill>
              </a:rPr>
              <a:t>•  Farmers and students lack easy access to 	crop water-	use data  </a:t>
            </a:r>
          </a:p>
          <a:p>
            <a:pPr algn="l">
              <a:lnSpc>
                <a:spcPct val="200000"/>
              </a:lnSpc>
            </a:pPr>
            <a:r>
              <a:rPr lang="en-US" dirty="0">
                <a:solidFill>
                  <a:srgbClr val="3D355E"/>
                </a:solidFill>
              </a:rPr>
              <a:t>•  Existing tools are complex, web-only, or require 	technical 	expertise  </a:t>
            </a:r>
          </a:p>
          <a:p>
            <a:pPr algn="l">
              <a:lnSpc>
                <a:spcPct val="200000"/>
              </a:lnSpc>
            </a:pPr>
            <a:r>
              <a:rPr lang="en-US" dirty="0">
                <a:solidFill>
                  <a:srgbClr val="3D355E"/>
                </a:solidFill>
              </a:rPr>
              <a:t>•  No simple multilingual mobile solution for Indian crop 	water footprints  </a:t>
            </a:r>
          </a:p>
          <a:p>
            <a:pPr algn="l">
              <a:lnSpc>
                <a:spcPct val="200000"/>
              </a:lnSpc>
            </a:pPr>
            <a:r>
              <a:rPr lang="en-US" dirty="0">
                <a:solidFill>
                  <a:srgbClr val="3D355E"/>
                </a:solidFill>
              </a:rPr>
              <a:t>•  Water scarcity awareness is critically low among rural 	and 	semi-urban users</a:t>
            </a:r>
            <a:endParaRPr dirty="0">
              <a:solidFill>
                <a:srgbClr val="3D355E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D4B0C6-FDF4-D973-B047-9FA52527EF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113" t="53424" r="1888" b="2313"/>
          <a:stretch/>
        </p:blipFill>
        <p:spPr>
          <a:xfrm>
            <a:off x="5668621" y="1903446"/>
            <a:ext cx="6475751" cy="35829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4C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4C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"/>
            <a:ext cx="12188952" cy="1005840"/>
          </a:xfrm>
          <a:prstGeom prst="rect">
            <a:avLst/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D355E"/>
                </a:solidFill>
              </a:rPr>
              <a:t>Key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303520" cy="1097280"/>
          </a:xfrm>
          <a:prstGeom prst="rect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🔍  Crop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Search by name with autocomplete suggestions from backend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5303520" cy="1097280"/>
          </a:xfrm>
          <a:prstGeom prst="rect">
            <a:avLst/>
          </a:prstGeom>
          <a:solidFill>
            <a:srgbClr val="D4F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8163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📊  Water Footprint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Green, Blue, Grey water breakdown with interactive Pie Chart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5303520" cy="1097280"/>
          </a:xfrm>
          <a:prstGeom prst="rect">
            <a:avLst/>
          </a:prstGeom>
          <a:solidFill>
            <a:srgbClr val="FFE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41879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💡  Water Tips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617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Crop-specific water-saving tips and scarcity risk level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371600"/>
            <a:ext cx="5303520" cy="1097280"/>
          </a:xfrm>
          <a:prstGeom prst="rect">
            <a:avLst/>
          </a:prstGeom>
          <a:solidFill>
            <a:srgbClr val="FF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🕓  Search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All searches saved locally with crop name and timestamp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743200"/>
            <a:ext cx="5303520" cy="1097280"/>
          </a:xfrm>
          <a:prstGeom prst="rect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28163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🌍  11 Languages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Switch from Hindi to Malayalam — app reloads in chosen lang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114800"/>
            <a:ext cx="5303520" cy="1097280"/>
          </a:xfrm>
          <a:prstGeom prst="rect">
            <a:avLst/>
          </a:prstGeom>
          <a:solidFill>
            <a:srgbClr val="D4F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6537960" y="41879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🌾  Crop Details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617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Climate, irrigation type, harvest season, water scarcity info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0"/>
                            </p:stCondLst>
                            <p:childTnLst>
                              <p:par>
                                <p:cTn id="4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9" grpId="0" animBg="1"/>
      <p:bldP spid="12" grpId="0" animBg="1"/>
      <p:bldP spid="15" grpId="0" animBg="1"/>
      <p:bldP spid="18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B59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B59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"/>
            <a:ext cx="12188952" cy="1005840"/>
          </a:xfrm>
          <a:prstGeom prst="rect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D355E"/>
                </a:solidFill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749039" cy="2286000"/>
          </a:xfrm>
          <a:prstGeom prst="rect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📱 Android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Kotlin + Jetpack Navigation
Room DB, Retrofit
MPAndroidChart, ViewBinding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371600"/>
            <a:ext cx="3749039" cy="2286000"/>
          </a:xfrm>
          <a:prstGeom prst="rect">
            <a:avLst/>
          </a:prstGeom>
          <a:solidFill>
            <a:srgbClr val="D4F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6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🔗 REST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9659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Python / Flask
JSON Endpoints
/search, /suggestions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371600"/>
            <a:ext cx="3749039" cy="2286000"/>
          </a:xfrm>
          <a:prstGeom prst="rect">
            <a:avLst/>
          </a:prstGeom>
          <a:solidFill>
            <a:srgbClr val="FFE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956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🗄️ Crop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19659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JSON / flat dataset
Crop water footprint values
Green, Blue, Grey per crop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3749039" cy="2286000"/>
          </a:xfrm>
          <a:prstGeom prst="rect">
            <a:avLst/>
          </a:prstGeom>
          <a:solidFill>
            <a:srgbClr val="FF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977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🌐 Localization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11 Language Strings
LocaleHelper utility
SharedPreferences persist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3840480"/>
            <a:ext cx="3749039" cy="2286000"/>
          </a:xfrm>
          <a:prstGeom prst="rect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60" y="3977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📦 Local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Room Database
HistoryEntity + DAO
Searches with timestamps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840480"/>
            <a:ext cx="3749039" cy="2286000"/>
          </a:xfrm>
          <a:prstGeom prst="rect">
            <a:avLst/>
          </a:prstGeom>
          <a:solidFill>
            <a:srgbClr val="D4F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3977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355E"/>
                </a:solidFill>
              </a:rPr>
              <a:t>🌿 Result 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F9E"/>
                </a:solidFill>
              </a:rPr>
              <a:t>Pie chart breakdown
Water-saving tips
Climate &amp; irrigation info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9" grpId="0" animBg="1"/>
      <p:bldP spid="12" grpId="0" animBg="1"/>
      <p:bldP spid="15" grpId="0" animBg="1"/>
      <p:bldP spid="18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9B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9B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"/>
            <a:ext cx="12188952" cy="1005840"/>
          </a:xfrm>
          <a:prstGeom prst="rect">
            <a:avLst/>
          </a:prstGeom>
          <a:solidFill>
            <a:srgbClr val="E4F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D355E"/>
                </a:solidFill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194560"/>
          </a:xfrm>
          <a:prstGeom prst="rect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D355E"/>
                </a:solidFill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5F9E"/>
                </a:solidFill>
              </a:rPr>
              <a:t>Kotlin, Jetpack Navigation
Android Studio, Gradle
MPAndroidChart, ViewBinding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486400" cy="2194560"/>
          </a:xfrm>
          <a:prstGeom prst="rect">
            <a:avLst/>
          </a:prstGeom>
          <a:solidFill>
            <a:srgbClr val="D4F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D355E"/>
                </a:solidFill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5F9E"/>
                </a:solidFill>
              </a:rPr>
              <a:t>Python, Flask REST API
JSON crop dataset
/search, /suggestions endpoints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5486400" cy="2194560"/>
          </a:xfrm>
          <a:prstGeom prst="rect">
            <a:avLst/>
          </a:prstGeom>
          <a:solidFill>
            <a:srgbClr val="FFE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977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D355E"/>
                </a:solidFill>
              </a:rPr>
              <a:t>Local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5F9E"/>
                </a:solidFill>
              </a:rPr>
              <a:t>Room Database (SQLite)
HistoryEntity + DAO
SharedPreferences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840480"/>
            <a:ext cx="5486400" cy="2194560"/>
          </a:xfrm>
          <a:prstGeom prst="rect">
            <a:avLst/>
          </a:prstGeom>
          <a:solidFill>
            <a:srgbClr val="FF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D355E"/>
                </a:solidFill>
              </a:rPr>
              <a:t>HTTP 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434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5F9E"/>
                </a:solidFill>
              </a:rPr>
              <a:t>Retrofit 2
OkHttp
JSON response parsing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9" grpId="0" animBg="1"/>
      <p:bldP spid="12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49F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49F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137160"/>
            <a:ext cx="12188952" cy="1005840"/>
          </a:xfrm>
          <a:prstGeom prst="rect">
            <a:avLst/>
          </a:prstGeom>
          <a:solidFill>
            <a:srgbClr val="FFEC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D355E"/>
                </a:solidFill>
              </a:rPr>
              <a:t>App Screens &amp; Navigation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199" y="1240970"/>
            <a:ext cx="3225283" cy="1309396"/>
          </a:xfrm>
          <a:prstGeom prst="rect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D355E"/>
                </a:solidFill>
              </a:rPr>
              <a:t>🏠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9152" y="1549244"/>
            <a:ext cx="970663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B5F9E"/>
                </a:solidFill>
              </a:rPr>
              <a:t>Search bar with
autocomplete
Search button
Loading + error states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198" y="2675971"/>
            <a:ext cx="3225283" cy="1155803"/>
          </a:xfrm>
          <a:prstGeom prst="rect">
            <a:avLst/>
          </a:prstGeom>
          <a:solidFill>
            <a:srgbClr val="D4F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93170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3D355E"/>
                </a:solidFill>
              </a:rPr>
              <a:t>📋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9152" y="2909596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B5F9E"/>
                </a:solidFill>
              </a:rPr>
              <a:t>Crop name
Total water
Green/Blue/Grey
Pie chart + tip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198" y="3930573"/>
            <a:ext cx="3225284" cy="1177575"/>
          </a:xfrm>
          <a:prstGeom prst="rect">
            <a:avLst/>
          </a:prstGeom>
          <a:solidFill>
            <a:srgbClr val="FFE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6152" y="423951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3D355E"/>
                </a:solidFill>
              </a:rPr>
              <a:t>🕓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9152" y="4036322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B5F9E"/>
                </a:solidFill>
              </a:rPr>
              <a:t>Past searches list
Timestamps
Water values
Scrollable 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199" y="5271438"/>
            <a:ext cx="3225282" cy="1240402"/>
          </a:xfrm>
          <a:prstGeom prst="rect">
            <a:avLst/>
          </a:prstGeom>
          <a:solidFill>
            <a:srgbClr val="FF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0012" y="555295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3D355E"/>
                </a:solidFill>
              </a:rPr>
              <a:t>🌍 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4872" y="5364745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B5F9E"/>
                </a:solidFill>
              </a:rPr>
              <a:t>11 language options
Spinner selection
App recreation
on change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358AEA-5F30-6E46-3775-2B9E49473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007" y="1355329"/>
            <a:ext cx="1865401" cy="534991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BB56B06-DB25-3B67-DB97-F32118DD0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066" y="1325544"/>
            <a:ext cx="2083629" cy="534991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0B82CBD-DFF4-00A9-0E44-4228F47B9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6400" y="1380212"/>
            <a:ext cx="2193415" cy="536168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9A17BF3-CBB4-5BD0-8A91-6BBB8B6FC5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5524" y="1380212"/>
            <a:ext cx="2193415" cy="536168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9" grpId="0" animBg="1"/>
      <p:bldP spid="12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4C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4C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137160"/>
            <a:ext cx="12188952" cy="1005840"/>
          </a:xfrm>
          <a:prstGeom prst="rect">
            <a:avLst/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D355E"/>
                </a:solidFill>
              </a:rPr>
              <a:t>Conclusion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990495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3D355E"/>
                </a:solidFill>
              </a:rPr>
              <a:t>  •  Vaari delivers easy, mobile-first access to crop water footprint data</a:t>
            </a:r>
          </a:p>
          <a:p>
            <a:pPr algn="l"/>
            <a:r>
              <a:rPr sz="1700">
                <a:solidFill>
                  <a:srgbClr val="3D355E"/>
                </a:solidFill>
              </a:rPr>
              <a:t>  •  Multilingual support makes it accessible across India's diverse languages</a:t>
            </a:r>
          </a:p>
          <a:p>
            <a:pPr algn="l"/>
            <a:r>
              <a:rPr sz="1700">
                <a:solidFill>
                  <a:srgbClr val="3D355E"/>
                </a:solidFill>
              </a:rPr>
              <a:t>  •  Local history and pie chart make the data meaningful and trackable</a:t>
            </a:r>
          </a:p>
          <a:p>
            <a:pPr algn="l"/>
            <a:r>
              <a:rPr sz="1700">
                <a:solidFill>
                  <a:srgbClr val="3D355E"/>
                </a:solidFill>
              </a:rPr>
              <a:t>  •  Future: Add crop comparison side-by-side feature</a:t>
            </a:r>
          </a:p>
          <a:p>
            <a:pPr algn="l"/>
            <a:r>
              <a:rPr sz="1700">
                <a:solidFill>
                  <a:srgbClr val="3D355E"/>
                </a:solidFill>
              </a:rPr>
              <a:t>  •  Future: Offline mode using cached crop dataset</a:t>
            </a:r>
          </a:p>
          <a:p>
            <a:pPr algn="l"/>
            <a:r>
              <a:rPr sz="1700">
                <a:solidFill>
                  <a:srgbClr val="3D355E"/>
                </a:solidFill>
              </a:rPr>
              <a:t>  •  Future: Weather-based water usage prediction using ML models</a:t>
            </a:r>
          </a:p>
          <a:p>
            <a:pPr algn="l"/>
            <a:r>
              <a:rPr sz="1700">
                <a:solidFill>
                  <a:srgbClr val="3D355E"/>
                </a:solidFill>
              </a:rPr>
              <a:t>  •  Future: Expand crop database with regional and seasonal varieties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6B5F9E"/>
                </a:solidFill>
              </a:rPr>
              <a:t>Thank You  🌿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2307911-1297-D473-8FBA-1EF27A06CC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914" t="3389" r="1390" b="23246"/>
          <a:stretch/>
        </p:blipFill>
        <p:spPr>
          <a:xfrm>
            <a:off x="7657321" y="1484316"/>
            <a:ext cx="3920077" cy="43404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2ADB91-2BB4-300F-764D-529F5B55D5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02" t="75102" r="2364" b="2667"/>
          <a:stretch/>
        </p:blipFill>
        <p:spPr>
          <a:xfrm>
            <a:off x="401993" y="4149323"/>
            <a:ext cx="6990495" cy="1226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550</Words>
  <Application>Microsoft Office PowerPoint</Application>
  <PresentationFormat>Custom</PresentationFormat>
  <Paragraphs>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Pranav Bhagwat</cp:lastModifiedBy>
  <cp:revision>4</cp:revision>
  <dcterms:created xsi:type="dcterms:W3CDTF">2013-01-27T09:14:16Z</dcterms:created>
  <dcterms:modified xsi:type="dcterms:W3CDTF">2026-05-22T07:42:40Z</dcterms:modified>
  <cp:category/>
</cp:coreProperties>
</file>